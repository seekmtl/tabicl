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554480"/>
            <a:ext cx="101498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反事实多环境动力学学习</a:t>
            </a:r>
          </a:p>
          <a:p>
            <a:pPr algn="l">
              <a:lnSpc>
                <a:spcPct val="125000"/>
              </a:lnSpc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CAQ-TabICL 在 19 个扰动 MuJoCo 世界上的训练与泛化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657600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0">
                <a:solidFill>
                  <a:srgbClr val="9EC5F4"/>
                </a:solidFill>
                <a:latin typeface="Microsoft YaHei"/>
                <a:ea typeface="Microsoft YaHei"/>
                <a:cs typeface="Microsoft YaHei"/>
              </a:rPr>
              <a:t>exp5_CAQ · train6_counterfactual 实验系列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251960"/>
            <a:ext cx="10149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8AA3C2"/>
                </a:solidFill>
                <a:latin typeface="Microsoft YaHei"/>
                <a:ea typeface="Microsoft YaHei"/>
                <a:cs typeface="Microsoft YaHei"/>
              </a:rPr>
              <a:t>环境生成参照 MetaKoopman（NeurIPS 2025）· 分布内 17/19 胜 · few-shot 跨世界适应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943600"/>
            <a:ext cx="10149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8AA3C2"/>
                </a:solidFill>
                <a:latin typeface="Microsoft YaHei"/>
                <a:ea typeface="Microsoft YaHei"/>
                <a:cs typeface="Microsoft YaHei"/>
              </a:rPr>
              <a:t>2026-09 组会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82296" cy="5669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MetaKoopman（NeurIPS 2025）：贝叶斯元学习动力学模型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3268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Selim, Bhat &amp; Johansson (TRATON / KTH) · github.com/Mahmoud-Selim/MetaKoopman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问题：动力学模型在分布偏移（新坡度 / 重力 / 摩擦 / 关节故障）下失效，逐环境重训代价高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核心方法：在隐空间 meta-learn 一个 Koopman 算子的 MNIW 先验（Matrix Normal–Inverse Wishart）→ 新动力学实例只需一段短轨迹历史即可闭式贝叶斯适应（共轭更新，无需任何梯度步），并给出校准的预测不确定性。</a:t>
            </a:r>
          </a:p>
          <a:p>
            <a:pPr algn="l">
              <a:lnSpc>
                <a:spcPct val="112000"/>
              </a:lnSpc>
            </a:pPr>
            <a:r>
              <a:rPr sz="1350" b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架构三件套：① Transformer 隐空间编解码器（因果掩码防未来信息泄漏）② MNIW 先验 + 闭式后验 ③ 多步不确定性传播（隐空间滚动前向）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3611880"/>
          <a:ext cx="106070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环境扰动</a:t>
                      </a:r>
                    </a:p>
                  </a:txBody>
                  <a:tcPr marT="18000" marB="18000" anchor="ctr"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meta-train 范围（窄）</a:t>
                      </a:r>
                    </a:p>
                  </a:txBody>
                  <a:tcPr marT="18000" marB="18000" anchor="ctr"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meta-test 范围（宽）</a:t>
                      </a:r>
                    </a:p>
                  </a:txBody>
                  <a:tcPr marT="18000" marB="18000" anchor="ctr"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我们的网格（覆盖 meta-train）</a:t>
                      </a:r>
                    </a:p>
                  </a:txBody>
                  <a:tcPr marT="18000" marB="18000" anchor="ctr">
                    <a:solidFill>
                      <a:srgbClr val="2A78D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HalfCheetah 坡度</a:t>
                      </a:r>
                    </a:p>
                  </a:txBody>
                  <a:tcPr marT="18000" marB="18000" anchor="ctr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[-10°, +10°]</a:t>
                      </a:r>
                    </a:p>
                  </a:txBody>
                  <a:tcPr marT="18000" marB="18000" anchor="ctr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[-15°, +15°]</a:t>
                      </a:r>
                    </a:p>
                  </a:txBody>
                  <a:tcPr marT="18000" marB="18000" anchor="ctr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-10° / 0° / +10°</a:t>
                      </a:r>
                    </a:p>
                  </a:txBody>
                  <a:tcPr marT="18000" marB="18000" anchor="ctr">
                    <a:solidFill>
                      <a:srgbClr val="FCFC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Walker2d 摩擦</a:t>
                      </a:r>
                    </a:p>
                  </a:txBody>
                  <a:tcPr marT="18000" marB="180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×[0.3, 3.0]</a:t>
                      </a:r>
                    </a:p>
                  </a:txBody>
                  <a:tcPr marT="18000" marB="180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×[0.2, 5.0]</a:t>
                      </a:r>
                    </a:p>
                  </a:txBody>
                  <a:tcPr marT="18000" marB="180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×0.3 / ×1 / ×3</a:t>
                      </a:r>
                    </a:p>
                  </a:txBody>
                  <a:tcPr marT="18000" marB="18000" anchor="ctr"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Hopper 重力</a:t>
                      </a:r>
                    </a:p>
                  </a:txBody>
                  <a:tcPr marT="18000" marB="18000" anchor="ctr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偏移 [-1.0, +1.0]</a:t>
                      </a:r>
                    </a:p>
                  </a:txBody>
                  <a:tcPr marT="18000" marB="18000" anchor="ctr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[-1.5, +1.5]</a:t>
                      </a:r>
                    </a:p>
                  </a:txBody>
                  <a:tcPr marT="18000" marB="18000" anchor="ctr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-1 / -0.5 / 0 / +0.5 / +1</a:t>
                      </a:r>
                    </a:p>
                  </a:txBody>
                  <a:tcPr marT="18000" marB="18000" anchor="ctr">
                    <a:solidFill>
                      <a:srgbClr val="FCFC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Ant 关节故障</a:t>
                      </a:r>
                    </a:p>
                  </a:txBody>
                  <a:tcPr marT="18000" marB="180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部分关节组合</a:t>
                      </a:r>
                    </a:p>
                  </a:txBody>
                  <a:tcPr marT="18000" marB="180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全部关节</a:t>
                      </a:r>
                    </a:p>
                  </a:txBody>
                  <a:tcPr marT="18000" marB="180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个关节全枚举</a:t>
                      </a:r>
                    </a:p>
                  </a:txBody>
                  <a:tcPr marT="18000" marB="18000" anchor="ctr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5760720"/>
            <a:ext cx="106070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管线四阶段：扰动环境（每次 reset 重采样参数）→ TD3 策略（仅作行为策略生成轨迹）→ 采集 meta-train/meta-test 轨迹 → 训练动力学模型。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成果：多步预测精度 / 不确定性校准 / 偏移鲁棒性全面优于 DKO 等基线；另在 37.5 吨卡车冬季路况（雪 / 冰 / μ-split）做了实车验证。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82296" cy="5669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多环境生成：静态 XML 扰动网格（19 个世界）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3268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generate_perturbed_xmls.py（mbpo_jax-main）→ MBPO 策略 rollout → fork_env.py 反事实采样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607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核心思想：每个（扰动类型, 值）预生成一份固定 XML——动力学完全由 XML 决定，同一 (qpos, qvel) 下结果唯一确定，这是反事实（counterfactual）数据有效性的前提。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与 MetaKoopman 环境协议的三个关键差异：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2286000"/>
          <a:ext cx="1060704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840480"/>
                <a:gridCol w="5212080"/>
              </a:tblGrid>
              <a:tr h="42291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T="18000" marB="18000" anchor="ctr"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MetaKoopman</a:t>
                      </a:r>
                    </a:p>
                  </a:txBody>
                  <a:tcPr marT="18000" marB="18000" anchor="ctr"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我们（为什么）</a:t>
                      </a:r>
                    </a:p>
                  </a:txBody>
                  <a:tcPr marT="18000" marB="18000" anchor="ctr">
                    <a:solidFill>
                      <a:srgbClr val="2A78D6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参数形式</a:t>
                      </a:r>
                    </a:p>
                  </a:txBody>
                  <a:tcPr marT="18000" marB="18000" anchor="ctr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运行时随机重采样（同一 env 内参数变化）</a:t>
                      </a:r>
                    </a:p>
                  </a:txBody>
                  <a:tcPr marT="18000" marB="18000" anchor="ctr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静态预生成 XML（动力学由文件唯一确定 → fork 反事实一致）</a:t>
                      </a:r>
                    </a:p>
                  </a:txBody>
                  <a:tcPr marT="18000" marB="18000" anchor="ctr">
                    <a:solidFill>
                      <a:srgbClr val="FCFCFB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基础资产</a:t>
                      </a:r>
                    </a:p>
                  </a:txBody>
                  <a:tcPr marT="18000" marB="180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自改 XML（重力 ×10、改脚摩擦）</a:t>
                      </a:r>
                    </a:p>
                  </a:txBody>
                  <a:tcPr marT="18000" marB="180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gymnasium 原版资产（与既有 -v4 数据保持可比）</a:t>
                      </a:r>
                    </a:p>
                  </a:txBody>
                  <a:tcPr marT="18000" marB="18000" anchor="ctr">
                    <a:solidFill>
                      <a:srgbClr val="F2F4F8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参数可见性</a:t>
                      </a:r>
                    </a:p>
                  </a:txBody>
                  <a:tcPr marT="18000" marB="18000" anchor="ctr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扰动参数拼进 observation（告诉模型）</a:t>
                      </a:r>
                    </a:p>
                  </a:txBody>
                  <a:tcPr marT="18000" marB="18000" anchor="ctr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不拼进 observation——模型须从 context 推断动力学（更难，也是 CAQ 因果通道的用武之地）</a:t>
                      </a:r>
                    </a:p>
                  </a:txBody>
                  <a:tcPr marT="18000" marB="18000" anchor="ctr"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4251960"/>
            <a:ext cx="106070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扰动网格（覆盖其 meta-train 范围 + identity 锚点）：Hopper 重力偏移 ±1（5 档）· Walker2d 摩擦 ×0.3/1/3 · HalfCheetah 坡度 -10°/0°/+10° · Ant 卡关节 af0–af7 全枚举 → 共 19 个环境。</a:t>
            </a: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采集管线：每个环境训练 MBPO 策略 → rollout 得 env_buffer.npz → fork_env.py 对每个 src state 采样 8 个加噪 action → fork_samples.npz（state, action, next_state, reward）。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7240" y="5806440"/>
          <a:ext cx="1060704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828800"/>
                <a:gridCol w="1828800"/>
                <a:gridCol w="1828800"/>
                <a:gridCol w="1828800"/>
                <a:gridCol w="1737360"/>
              </a:tblGrid>
              <a:tr h="32004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数据规模</a:t>
                      </a:r>
                    </a:p>
                  </a:txBody>
                  <a:tcPr marT="18000" marB="18000" anchor="ctr"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HopperGravity ×5</a:t>
                      </a:r>
                    </a:p>
                  </a:txBody>
                  <a:tcPr marT="18000" marB="18000" anchor="ctr"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Walker2dFriction ×3</a:t>
                      </a:r>
                    </a:p>
                  </a:txBody>
                  <a:tcPr marT="18000" marB="18000" anchor="ctr"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HalfCheetahSlope ×3</a:t>
                      </a:r>
                    </a:p>
                  </a:txBody>
                  <a:tcPr marT="18000" marB="18000" anchor="ctr"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AntJoints ×8</a:t>
                      </a:r>
                    </a:p>
                  </a:txBody>
                  <a:tcPr marT="18000" marB="18000" anchor="ctr"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</a:t>
                      </a:r>
                    </a:p>
                  </a:txBody>
                  <a:tcPr marT="18000" marB="18000" anchor="ctr">
                    <a:solidFill>
                      <a:srgbClr val="2A78D6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T="18000" marB="18000" anchor="ctr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84 万行/环境</a:t>
                      </a:r>
                    </a:p>
                  </a:txBody>
                  <a:tcPr marT="18000" marB="18000" anchor="ctr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164 万行/环境</a:t>
                      </a:r>
                    </a:p>
                  </a:txBody>
                  <a:tcPr marT="18000" marB="18000" anchor="ctr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240 万行/环境</a:t>
                      </a:r>
                    </a:p>
                  </a:txBody>
                  <a:tcPr marT="18000" marB="18000" anchor="ctr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480 万行/环境</a:t>
                      </a:r>
                    </a:p>
                  </a:txBody>
                  <a:tcPr marT="18000" marB="18000" anchor="ctr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5,470 万行</a:t>
                      </a:r>
                    </a:p>
                  </a:txBody>
                  <a:tcPr marT="18000" marB="18000" anchor="ctr"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1292840" y="647395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82296" cy="5669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实验设定：CAQ-TabICL 混合训练 + 三组实验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6070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模型：CAQ-TabICL = TabICL 冻结 ICL（95.5% 参数）+ 微调 ColEmbedding / RowInteraction + action 因果通道 （action → causal_block 逐行调制）。目标 y = [reward, next_state − state] 多输出。</a:t>
            </a:r>
          </a:p>
          <a:p>
            <a:pPr algn="l">
              <a:lnSpc>
                <a:spcPct val="112000"/>
              </a:lnSpc>
            </a:pPr>
            <a:r>
              <a:rPr sz="1300" b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训练协议：flat 表随机抽样（1,024 ctx + 512 query 行）、SCM 合成数据 replay 防遗忘（4 RL : 1 SCM）、target-aware 逐维批处理（Ant 28 维分块 chunk=7）。</a:t>
            </a:r>
          </a:p>
          <a:p>
            <a:pPr algn="l">
              <a:lnSpc>
                <a:spcPct val="112000"/>
              </a:lnSpc>
            </a:pPr>
            <a:r>
              <a:rPr sz="1300" b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评估：原版 TabICL（冻结 checkpoint，TabICLRegressor）同协议对照，报告 best/Base 比值（&lt;1 = CAQ 更优）。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2971800"/>
          <a:ext cx="106070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206240"/>
                <a:gridCol w="4114800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实验</a:t>
                      </a:r>
                    </a:p>
                  </a:txBody>
                  <a:tcPr marT="18000" marB="18000" anchor="ctr"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设定</a:t>
                      </a:r>
                    </a:p>
                  </a:txBody>
                  <a:tcPr marT="18000" marB="18000" anchor="ctr"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回答的问题</a:t>
                      </a:r>
                    </a:p>
                  </a:txBody>
                  <a:tcPr marT="18000" marB="18000" anchor="ctr">
                    <a:solidFill>
                      <a:srgbClr val="2A78D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0B0B0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· 19 环境联合</a:t>
                      </a:r>
                    </a:p>
                  </a:txBody>
                  <a:tcPr marT="18000" marB="18000" anchor="ctr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0B0B0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lr=1e-5 × 15,000 步</a:t>
                      </a:r>
                    </a:p>
                  </a:txBody>
                  <a:tcPr marT="18000" marB="18000" anchor="ctr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0B0B0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基线：联合训练能否超过原 TabICL？</a:t>
                      </a:r>
                    </a:p>
                  </a:txBody>
                  <a:tcPr marT="18000" marB="18000" anchor="ctr">
                    <a:solidFill>
                      <a:srgbClr val="FCFC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0B0B0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 · 19 环境联合（改进）</a:t>
                      </a:r>
                    </a:p>
                  </a:txBody>
                  <a:tcPr marT="18000" marB="180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0B0B0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lr=1e-4 × 30,000 步 + 退火终点 5e-6</a:t>
                      </a:r>
                    </a:p>
                  </a:txBody>
                  <a:tcPr marT="18000" marB="180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0B0B0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中 AntJoints 落后是伪收敛吗？调 lr/步数能否翻转？</a:t>
                      </a:r>
                    </a:p>
                  </a:txBody>
                  <a:tcPr marT="18000" marB="18000" anchor="ctr">
                    <a:solidFill>
                      <a:srgbClr val="F2F4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0B0B0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 · hold-out 外推</a:t>
                      </a:r>
                    </a:p>
                  </a:txBody>
                  <a:tcPr marT="18000" marB="18000" anchor="ctr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0B0B0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留出 g1 / f3 / s10 / af4，训练其余 15 环境</a:t>
                      </a:r>
                    </a:p>
                  </a:txBody>
                  <a:tcPr marT="18000" marB="18000" anchor="ctr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0B0B0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模型对从未见过的世界：few-shot 适应能否赢 TabICL？</a:t>
                      </a:r>
                    </a:p>
                  </a:txBody>
                  <a:tcPr marT="18000" marB="18000" anchor="ctr"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525780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hold-out 协议：留出环境完全不参与训练；评估时 context 用留出环境自身训练池前 2 万行（拿到该世界样本后的快速适应），query 为留出环境测试集——CAQ 与 baseline 完全同协议对照。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82296" cy="5669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分布内结果：19 环境 17 胜 2 近，OVERALL 0.96x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3268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实验 B（lr=1e-4 × 30,000 步）· CAQ best MSE / TabICL baseline MSE</a:t>
            </a:r>
          </a:p>
        </p:txBody>
      </p:sp>
      <p:pic>
        <p:nvPicPr>
          <p:cNvPr id="5" name="Picture 4" descr="fig1_in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6766560" cy="37180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06640" y="1417320"/>
            <a:ext cx="434340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按扰动组分层：</a:t>
            </a: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重力 HopperGravity 0.45–0.70x</a:t>
            </a: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（改善 30–55%，最大收益）</a:t>
            </a: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关节 AntJoints 0.77–0.86x</a:t>
            </a: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（改善 14–23%）</a:t>
            </a: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摩擦 Walker2d 0.96–0.99x</a:t>
            </a: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（小幅全面占优）</a:t>
            </a: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坡度 HalfCheetah 0.92–1.04x</a:t>
            </a: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（s0 优 8%；s-10 / s10 接近）</a:t>
            </a: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训练健康：SCM forget 0.78x（无遗忘）</a:t>
            </a: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0 次 NaN / 回滚 / 告警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5943600"/>
            <a:ext cx="4343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低维简单动力学（Hopper 11d）收益最大；</a:t>
            </a:r>
          </a:p>
          <a:p>
            <a:pPr algn="l">
              <a:lnSpc>
                <a:spcPct val="112000"/>
              </a:lnSpc>
            </a:pPr>
            <a:r>
              <a:rPr sz="1150" b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维度越高收益递减——与 action 因果信号强度一致。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82296" cy="5669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消融：AntJoints 从全输到全赢——伪收敛的识别与修复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371600"/>
          <a:ext cx="106070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297680"/>
                <a:gridCol w="429768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T="18000" marB="18000" anchor="ctr"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实验 A（lr=1e-5 × 15k 步）</a:t>
                      </a:r>
                    </a:p>
                  </a:txBody>
                  <a:tcPr marT="18000" marB="18000" anchor="ctr"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实验 B（lr=1e-4 × 30k 步）</a:t>
                      </a:r>
                    </a:p>
                  </a:txBody>
                  <a:tcPr marT="18000" marB="18000" anchor="ctr">
                    <a:solidFill>
                      <a:srgbClr val="2A78D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B0B0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AntJoints ×8 比值</a:t>
                      </a:r>
                    </a:p>
                  </a:txBody>
                  <a:tcPr marT="18000" marB="18000" anchor="ctr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D03B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1.07 – 1.13x（全部落后 baseline）</a:t>
                      </a:r>
                    </a:p>
                  </a:txBody>
                  <a:tcPr marT="18000" marB="18000" anchor="ctr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63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0.77 – 0.86x（全部领先 14–23%）</a:t>
                      </a:r>
                    </a:p>
                  </a:txBody>
                  <a:tcPr marT="18000" marB="18000" anchor="ctr">
                    <a:solidFill>
                      <a:srgbClr val="FCFC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B0B0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OVERALL</a:t>
                      </a:r>
                    </a:p>
                  </a:txBody>
                  <a:tcPr marT="18000" marB="180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B0B0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1.00x</a:t>
                      </a:r>
                    </a:p>
                  </a:txBody>
                  <a:tcPr marT="18000" marB="180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63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0.96x</a:t>
                      </a:r>
                    </a:p>
                  </a:txBody>
                  <a:tcPr marT="18000" marB="18000" anchor="ctr">
                    <a:solidFill>
                      <a:srgbClr val="F2F4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B0B0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SCM forget</a:t>
                      </a:r>
                    </a:p>
                  </a:txBody>
                  <a:tcPr marT="18000" marB="18000" anchor="ctr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B0B0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1.03x</a:t>
                      </a:r>
                    </a:p>
                  </a:txBody>
                  <a:tcPr marT="18000" marB="18000" anchor="ctr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B0B0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0.78x（更高 lr 反而更稳）</a:t>
                      </a:r>
                    </a:p>
                  </a:txBody>
                  <a:tcPr marT="18000" marB="18000" anchor="ctr"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324612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现象：实验 A 中 AntJoints 的 MSE 从 0.14 降到 0.05 后平台化，看似收敛——但 baseline 本来就能做到 0.044–0.057，微调后反而更差 7–13%。</a:t>
            </a:r>
          </a:p>
          <a:p>
            <a:pPr algn="l">
              <a:lnSpc>
                <a:spcPct val="112000"/>
              </a:lnSpc>
            </a:pPr>
            <a:r>
              <a:rPr sz="1300" b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诊断：CosineAnnealing 退火到底——epoch 240 后 lr 从 1e-6 衰减到 1e-7，梯度更新量趋零。平台不是「数据学完了」，而是「学不动了」的伪收敛。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892040"/>
            <a:ext cx="106070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修复：lr 1e-5 → 1e-4、步数 15k → 30k、退火终点 lr×0.01 → lr×0.05（避免后半程再次学不动）。</a:t>
            </a:r>
          </a:p>
          <a:p>
            <a:pPr algn="l">
              <a:lnSpc>
                <a:spcPct val="112000"/>
              </a:lnSpc>
            </a:pPr>
            <a:r>
              <a:rPr sz="1300" b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结果：AntJoints 8 环境全部翻转（改善 14–23%），且 SCM forget 从 1.03x 降到 0.78x——更高的 lr 在 SCM 锚定 + 梯度裁剪保护下没有引起遗忘。</a:t>
            </a:r>
          </a:p>
          <a:p>
            <a:pPr algn="l">
              <a:lnSpc>
                <a:spcPct val="112000"/>
              </a:lnSpc>
            </a:pPr>
            <a:r>
              <a:rPr sz="1300" b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教训：微调 TabICL 类模型时，lr 退火方案决定「有效训练时长」；评估平台要先排除退火因素再归因于模型容量。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82296" cy="5669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Hold-out 外推：few-shot 跨世界适应 3/4 成立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3268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实验 C · 留出 g1 / f3 / s10 / af4 不参与训练 · 模型对留出环境从未见过任何一行</a:t>
            </a:r>
          </a:p>
        </p:txBody>
      </p:sp>
      <p:pic>
        <p:nvPicPr>
          <p:cNvPr id="5" name="Picture 4" descr="fig2_hold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6035040" cy="291048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20840" y="1554480"/>
            <a:ext cx="50292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4 个留出环境中 3 个胜或持平：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Hopper g1 0.62x（改善 38%）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Ant af4 0.91x（改善 9%）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Walker f3 1.02x（持平）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HC s10 1.20x（落后）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趋势：few-shot MSE 随训练稳步改善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（16 轮评估单调向好），说明跨世界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适应能力是训练出来的，不是碰巧。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结论：模型对从未训练过的扰动世界，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拿到 2 万行该世界的样本后即可达到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或超过原 TabICL 的预测水平。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82296" cy="5669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结论与下一步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结论 1 · 分布内：19 个扰动环境上 CAQ-TabICL 混合微调 17/19 胜原 TabICL（OVERALL 0.96x），四类扰动全部不劣于 baseline；重力（0.45–0.70x）与关节（0.77–0.86x）两组大幅领先。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结论 2 · few-shot 跨世界：对训练中从未见过的世界，给 2 万行 context 后 3/4 环境胜或持平（Hopper 0.62x），跨世界快速适应能力成立。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关键支撑：更高的 lr（1e-4）没有引起遗忘（SCM forget 0.78x），伪收敛可通过退火方案修正——微调范式在反事实多环境设定下稳定可靠。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11480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下一步：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526280"/>
            <a:ext cx="106070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① 采集范围外参数数据（坡度 ±15°、摩擦 ×5、重力 ±1.5），对齐 MetaKoopman 的 meta-test 设定</a:t>
            </a:r>
          </a:p>
          <a:p>
            <a:pPr algn="l">
              <a:lnSpc>
                <a:spcPct val="140000"/>
              </a:lnSpc>
            </a:pPr>
            <a:r>
              <a:rPr sz="1350" b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② 多 seed 重复 + 8 个原始环境 lr=1e-4 对照（补全证据链）</a:t>
            </a:r>
          </a:p>
          <a:p>
            <a:pPr algn="l">
              <a:lnSpc>
                <a:spcPct val="140000"/>
              </a:lnSpc>
            </a:pPr>
            <a:r>
              <a:rPr sz="1350" b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③ 更多扰动类型与更细的扰动网格（如 Panda 关节阻尼）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