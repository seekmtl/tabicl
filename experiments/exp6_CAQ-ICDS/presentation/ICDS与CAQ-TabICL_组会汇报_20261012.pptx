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开场：论文主角是CAQ-TabICL。ICDS提供多机制工业模拟训练任务；本次汇报以新数据及单seed正式测试为证据，不宣称真实工厂泛化。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五个模块统一流程。先选结构再抽参数，后端遵守各自物理或事件机制；同源动作分支为动作响应提供监督。数据、结构和模型收益需分别验证。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公式原样引用稿件的image2。x为状态，u为动作，e为当前外部条件，Δt为推进间隔；G为结构，θ为设备参数，ξ为随机创新，b为动作分支。ODE积分与混合事件推进并不是同一个算法。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78个program不等于78类工业场景。每个world固定一套设备参数，每world有8个episode，每episode有256个事实步骤。约25%source执行3个替代动作，只有选中的source含四branch。事实轨迹仅沿b0继续。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设备数来自dataset-summary.json。机械执行器、直流电机、耦合液罐、多段换热器为本次新增；产线扩展为6种布局。抽象discrete是离散时间，不要求状态取整数。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六种有限布局。串联有堵塞和缺料传播；并联为随机分配到独立机台，无共享工人或智能调度。每1秒内10个事件网格，连续温度/磨损与离散到货、故障、维护交织。parallel_2仅4个训练world，不在验证/测试；serial_3无验证world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数值直接读正式shards/3数组。只有动作命令不同；状态、参数和外部条件相同。控制先改变实际力，再影响速度与位移。随机产线分支共享随机创新，但并不自动识别真实系统平均因果效应。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规模与工业结构丰富度应分别描述。总program从113降至78，是抽象program减少，而工业program变多。8类包含1抽象和7工业原型。P的占比是设计选择，不是工业真实频率。1,834,294行完整验证通过；数值重放和参考积分仅说明实现正确，不等于真实设备标定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408训练world/52验证/52测试。context来自该world的4个episode，query来自另4个episode，源点及分支不跨context/query。图中的C/Q是分组示意，不指定实际episode编号。连续状态标签为增量，count/binary为下一值。标准化只拟合context。A4的普通MSE覆盖全部query行，并非仅对两两差值算损失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CAQ和FT冻结ICL predictor、训练列/行模块，CAQ额外训练动作模块。CAQ动作只进专用causal通道，FT用普通特征列。训练24k工业+6k SCM replay，lr1e-4 cosine至5e-6，seed42，full_state hr0，单工业任务1个目标。官方8成员fit/predict只准备上下文，不更新神经网络参数。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每个目标误差除预先规定参考尺度r，再平方对query平均；目标等权平均，再设备等权平均。参考尺度与query答案无关且本轮未改变。support标准化是训练编码，与评测参考尺度不同。物理单位RMSE/MAE另保存在JSON。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曲线来自evaluations.json，从1k开始，不把初始化分数当官方fit/predict基线。CAQ最佳0.10612@19k，最后0.118915；FT最佳0.206764@15k，最后0.311593。验证最佳比较CAQ低48.7%，该数字不能代替测试结果。共享GPU1条件下实际训练和评估耗时约3h58/3h50，不能做独占效率结论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三模型meta_test主指标分别0.377522859、0.422901573、9.438638782。官方8成员保留默认预处理、过滤、集成，使用新版单位编码，不是旧frozen core。左图log轴，右图线性轴。验证优势48.7%缩至测试10.7%，只支持本协议单seed平均优势。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8类原型中CAQ胜6类，但仅24/52设备获胜。耦合液罐和换热器分别比FT高20.0%与11.6%。不应只用平均优势宣称普遍优势。辅助原型等权MSE为CAQ0.24728/FT0.28589，低13.5%，不替换主指标。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设备444 station_0_wear参考尺度固定0.001。context maintenance_0=1有64行，负磨损增量24行；query分别13/5行。context最大磨损下降约0.1484，query约0.3576。不等于完全无维护示例，是更大幅度外推困难的证据，尚不是全部失败原因。未来调整需与已完成正式测试分开，不能反向调测试集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稿件与数据摘要、训练/测试原始JSON为核对依据。原稿引用Modelica、PC-Gym、NIST作为场景组成参考，并不沿用它们的设备精度结论。总结口径：多机制工业合成任务先验+CAQ专用动作通道，单seed未见设备平均收益，需要机制消融与独立迁移进一步证实。</a:t>
            </a:r>
          </a:p>
          <a:p/>
          <a:p>
            <a:r>
              <a:t>核对来源：/home/lizitao/project/Industrial_synthetic_data/reports/icds-method-report/ICDS_工业数据合成方法汇报.docx</a:t>
            </a:r>
          </a:p>
          <a:p>
            <a:r>
              <a:t>/home/lizitao/project/Industrial_synthetic_data/data/industrial-v2/dataset-summary.json</a:t>
            </a:r>
          </a:p>
          <a:p>
            <a:r>
              <a:t>/home/lizitao/project/tabicl/experiments/exp6_CAQ-ICDS/checkpoints/industrial-v2/formal-comparison.json</a:t>
            </a:r>
          </a:p>
          <a:p>
            <a:r>
              <a:t>/home/lizitao/project/tabicl/experiments/exp6_CAQ-ICDS/checkpoints/industrial-v2/meta-test-seed42-context960-query256-official8/report.json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512064"/>
            <a:ext cx="2743200" cy="338328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34924"/>
            <a:ext cx="2615184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研究生组会 · 2026.10.12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234440"/>
            <a:ext cx="10881360" cy="17830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300" b="1">
                <a:solidFill>
                  <a:srgbClr val="FFFFFF"/>
                </a:solidFill>
                <a:latin typeface="Noto Sans CJK SC"/>
                <a:ea typeface="Noto Sans CJK SC"/>
              </a:rPr>
              <a:t>ICDS工业合成数据</a:t>
            </a:r>
          </a:p>
          <a:p>
            <a:pPr algn="l">
              <a:spcAft>
                <a:spcPts val="500"/>
              </a:spcAft>
            </a:pPr>
            <a:r>
              <a:rPr sz="4300" b="1">
                <a:solidFill>
                  <a:srgbClr val="FFFFFF"/>
                </a:solidFill>
                <a:latin typeface="Noto Sans CJK SC"/>
                <a:ea typeface="Noto Sans CJK SC"/>
              </a:rPr>
              <a:t>与CAQ-TabICL预测实验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91840"/>
            <a:ext cx="10789920" cy="5029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0">
                <a:solidFill>
                  <a:srgbClr val="FFFFFF"/>
                </a:solidFill>
                <a:latin typeface="Noto Sans CJK SC"/>
                <a:ea typeface="Noto Sans CJK SC"/>
              </a:rPr>
              <a:t>多机制合成任务 → 工业训练 → 留出设备的一步预测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" y="4416552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254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" y="4553712"/>
            <a:ext cx="29718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8类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" y="5303520"/>
            <a:ext cx="2926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CBDCE6"/>
                </a:solidFill>
                <a:latin typeface="Noto Sans CJK SC"/>
                <a:ea typeface="Noto Sans CJK SC"/>
              </a:rPr>
              <a:t>代表性原型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71416" y="4416552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254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2584" y="4553712"/>
            <a:ext cx="29718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512套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5303520"/>
            <a:ext cx="2926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CBDCE6"/>
                </a:solidFill>
                <a:latin typeface="Noto Sans CJK SC"/>
                <a:ea typeface="Noto Sans CJK SC"/>
              </a:rPr>
              <a:t>模拟设备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38744" y="4416552"/>
            <a:ext cx="3383280" cy="1280160"/>
          </a:xfrm>
          <a:prstGeom prst="roundRect">
            <a:avLst>
              <a:gd name="adj" fmla="val 12000"/>
            </a:avLst>
          </a:prstGeom>
          <a:solidFill>
            <a:srgbClr val="254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9912" y="4553712"/>
            <a:ext cx="2971800" cy="5669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183.4万行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5303520"/>
            <a:ext cx="292608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CBDCE6"/>
                </a:solidFill>
                <a:latin typeface="Noto Sans CJK SC"/>
                <a:ea typeface="Noto Sans CJK SC"/>
              </a:rPr>
              <a:t>一步转移数据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6181344"/>
            <a:ext cx="1078992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CBDCE6"/>
                </a:solidFill>
                <a:latin typeface="Noto Sans CJK SC"/>
                <a:ea typeface="Noto Sans CJK SC"/>
              </a:rPr>
              <a:t>ICDS v0.3.0  /  industrial-v2  /  seed42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ICDS做什么：把机制变成可训练的统一任务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不是任意工厂生成器；是有限原型上的共同流程与数据协议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" y="1865376"/>
            <a:ext cx="1993392" cy="2048256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22376" y="2029968"/>
            <a:ext cx="393192" cy="393192"/>
          </a:xfrm>
          <a:prstGeom prst="ellipse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2039112"/>
            <a:ext cx="39319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633472"/>
            <a:ext cx="1682496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场景与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结构库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456432"/>
            <a:ext cx="17007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变量/单位/连接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78608" y="2798064"/>
            <a:ext cx="237744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9503" y="1865376"/>
            <a:ext cx="1993392" cy="2048256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054096" y="2029968"/>
            <a:ext cx="393192" cy="393192"/>
          </a:xfrm>
          <a:prstGeom prst="ellipse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039112"/>
            <a:ext cx="39319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44951" y="2633472"/>
            <a:ext cx="1682496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分层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随机化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44951" y="3456432"/>
            <a:ext cx="17007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设备/初值/工况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10327" y="2798064"/>
            <a:ext cx="237745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21224" y="1865376"/>
            <a:ext cx="1993392" cy="2048256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85816" y="2029968"/>
            <a:ext cx="393192" cy="393192"/>
          </a:xfrm>
          <a:prstGeom prst="ellipse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85816" y="2039112"/>
            <a:ext cx="39319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633472"/>
            <a:ext cx="1682496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动力学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执行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6672" y="3456432"/>
            <a:ext cx="17007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离散/ODE/事件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242048" y="2798064"/>
            <a:ext cx="237744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52944" y="1865376"/>
            <a:ext cx="1993392" cy="2048256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717536" y="2029968"/>
            <a:ext cx="393192" cy="393192"/>
          </a:xfrm>
          <a:prstGeom prst="ellipse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17536" y="2039112"/>
            <a:ext cx="39319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08392" y="2633472"/>
            <a:ext cx="1682496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同源动作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分支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08392" y="3456432"/>
            <a:ext cx="17007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同起点/换动作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73767" y="2798064"/>
            <a:ext cx="237745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84663" y="1865376"/>
            <a:ext cx="1993392" cy="2048256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49255" y="2029968"/>
            <a:ext cx="393192" cy="393192"/>
          </a:xfrm>
          <a:prstGeom prst="ellipse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9255" y="2039112"/>
            <a:ext cx="393192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1" y="2633472"/>
            <a:ext cx="1682496" cy="7772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质检与</a:t>
            </a:r>
          </a:p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任务导出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40111" y="3456432"/>
            <a:ext cx="1700784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重放/隔离/标签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" y="4389120"/>
            <a:ext cx="5166360" cy="1042415"/>
          </a:xfrm>
          <a:prstGeom prst="roundRect">
            <a:avLst>
              <a:gd name="adj" fmla="val 12000"/>
            </a:avLst>
          </a:prstGeom>
          <a:solidFill>
            <a:srgbClr val="16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" y="4544568"/>
            <a:ext cx="4736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ICDS：训练数据方法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" y="5010912"/>
            <a:ext cx="4718304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回答：数据从哪里来，机制为何合理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63056" y="4389120"/>
            <a:ext cx="5376672" cy="1042415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64224" y="4544568"/>
            <a:ext cx="4974336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CAQ-TabICL：论文主角模型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4224" y="5010912"/>
            <a:ext cx="4965192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回答：怎样学习动作影响并预测状态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统一接口，不统一所有工业过程的具体方程。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方法原理：统一的一步转移表达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同一套输入/输出契约，内部可以运行不同的动力学后端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03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3943" y="1444752"/>
            <a:ext cx="6453632" cy="87782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7512" y="2660904"/>
            <a:ext cx="3310128" cy="5760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715768"/>
            <a:ext cx="3017520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8A8D"/>
                </a:solidFill>
                <a:latin typeface="Noto Sans CJK SC"/>
                <a:ea typeface="Noto Sans CJK SC"/>
              </a:rPr>
              <a:t>xₜ：当前状态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999232"/>
            <a:ext cx="30175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温度 / 位置 / 队列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3438144"/>
            <a:ext cx="3310128" cy="5760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493008"/>
            <a:ext cx="3017520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8A8D"/>
                </a:solidFill>
                <a:latin typeface="Noto Sans CJK SC"/>
                <a:ea typeface="Noto Sans CJK SC"/>
              </a:rPr>
              <a:t>uₜ⁽ᵇ⁾：控制动作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776472"/>
            <a:ext cx="30175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加热 / 电压 / 维护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" y="4215384"/>
            <a:ext cx="3310128" cy="5760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270248"/>
            <a:ext cx="3017520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008A8D"/>
                </a:solidFill>
                <a:latin typeface="Noto Sans CJK SC"/>
                <a:ea typeface="Noto Sans CJK SC"/>
              </a:rPr>
              <a:t>eₜ，Δt：条件与间隔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553712"/>
            <a:ext cx="301752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环境驱动 / 推进多久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78224" y="3694176"/>
            <a:ext cx="539496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90872" y="2688336"/>
            <a:ext cx="3191256" cy="2084831"/>
          </a:xfrm>
          <a:prstGeom prst="roundRect">
            <a:avLst>
              <a:gd name="adj" fmla="val 12000"/>
            </a:avLst>
          </a:prstGeom>
          <a:solidFill>
            <a:srgbClr val="16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01184" y="2907792"/>
            <a:ext cx="2788920" cy="4846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结构 G + 设备参数 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01184" y="3465576"/>
            <a:ext cx="2779776" cy="114300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按机制推进一步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随机创新 ξₜ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如到货 / 故障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973568" y="3694176"/>
            <a:ext cx="466344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522208" y="3099816"/>
            <a:ext cx="2834640" cy="1188720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69096" y="3310128"/>
            <a:ext cx="233172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Noto Sans CJK SC"/>
                <a:ea typeface="Noto Sans CJK SC"/>
              </a:rPr>
              <a:t>xₜ₊₁⁽ᵇ⁾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3813048"/>
            <a:ext cx="2368296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FFFFFF"/>
                </a:solidFill>
                <a:latin typeface="Noto Sans CJK SC"/>
                <a:ea typeface="Noto Sans CJK SC"/>
              </a:rPr>
              <a:t>该动作下的下一状态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" y="5111496"/>
            <a:ext cx="3502152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5279A8"/>
                </a:solidFill>
                <a:latin typeface="Noto Sans CJK SC"/>
                <a:ea typeface="Noto Sans CJK SC"/>
              </a:rPr>
              <a:t>D：离散更新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" y="5504688"/>
            <a:ext cx="35021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实数状态按时间步更新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111496"/>
            <a:ext cx="3502152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08A8D"/>
                </a:solidFill>
                <a:latin typeface="Noto Sans CJK SC"/>
                <a:ea typeface="Noto Sans CJK SC"/>
              </a:rPr>
              <a:t>P：ODE积分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504688"/>
            <a:ext cx="35021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变化率 → 数值积分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0183" y="5111496"/>
            <a:ext cx="3502152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7C64A8"/>
                </a:solidFill>
                <a:latin typeface="Noto Sans CJK SC"/>
                <a:ea typeface="Noto Sans CJK SC"/>
              </a:rPr>
              <a:t>H：混合事件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3" y="5504688"/>
            <a:ext cx="350215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连续变化 + 加工事件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数据层级：图纸 → 设备 → 运行 → 一步及分支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program、world和样本行数描述不同层次，不能互相替代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1746504"/>
            <a:ext cx="2450592" cy="239572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911095"/>
            <a:ext cx="21396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Program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423160"/>
            <a:ext cx="2139696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0354B"/>
                </a:solidFill>
                <a:latin typeface="Noto Sans CJK SC"/>
                <a:ea typeface="Noto Sans CJK SC"/>
              </a:rPr>
              <a:t>结构 / 方程 / 连接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3191256"/>
            <a:ext cx="2139696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63555"/>
                </a:solidFill>
                <a:latin typeface="Noto Sans CJK SC"/>
                <a:ea typeface="Noto Sans CJK SC"/>
              </a:rPr>
              <a:t>78个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3675887"/>
            <a:ext cx="21396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88C"/>
                </a:solidFill>
                <a:latin typeface="Noto Sans CJK SC"/>
                <a:ea typeface="Noto Sans CJK SC"/>
              </a:rPr>
              <a:t>电机状态与方程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81528" y="2871216"/>
            <a:ext cx="320040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02152" y="1746504"/>
            <a:ext cx="2450592" cy="239572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911095"/>
            <a:ext cx="21396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World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423160"/>
            <a:ext cx="2139696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0354B"/>
                </a:solidFill>
                <a:latin typeface="Noto Sans CJK SC"/>
                <a:ea typeface="Noto Sans CJK SC"/>
              </a:rPr>
              <a:t>一套固定设备参数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191256"/>
            <a:ext cx="2139696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63555"/>
                </a:solidFill>
                <a:latin typeface="Noto Sans CJK SC"/>
                <a:ea typeface="Noto Sans CJK SC"/>
              </a:rPr>
              <a:t>512套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675887"/>
            <a:ext cx="21396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88C"/>
                </a:solidFill>
                <a:latin typeface="Noto Sans CJK SC"/>
                <a:ea typeface="Noto Sans CJK SC"/>
              </a:rPr>
              <a:t>电阻 / 惯量 / 热容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8464" y="2871216"/>
            <a:ext cx="320040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19088" y="1746504"/>
            <a:ext cx="2450592" cy="239572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1911095"/>
            <a:ext cx="21396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Episode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423160"/>
            <a:ext cx="2139696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0354B"/>
                </a:solidFill>
                <a:latin typeface="Noto Sans CJK SC"/>
                <a:ea typeface="Noto Sans CJK SC"/>
              </a:rPr>
              <a:t>一次运行轨迹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3191256"/>
            <a:ext cx="2139696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63555"/>
                </a:solidFill>
                <a:latin typeface="Noto Sans CJK SC"/>
                <a:ea typeface="Noto Sans CJK SC"/>
              </a:rPr>
              <a:t>4,096条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74536" y="3675887"/>
            <a:ext cx="21396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88C"/>
                </a:solidFill>
                <a:latin typeface="Noto Sans CJK SC"/>
                <a:ea typeface="Noto Sans CJK SC"/>
              </a:rPr>
              <a:t>初值 / 动作 / 外部驱动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915400" y="2871216"/>
            <a:ext cx="320040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336024" y="1746504"/>
            <a:ext cx="2450592" cy="239572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91472" y="1911095"/>
            <a:ext cx="21396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91472" y="2423160"/>
            <a:ext cx="2139696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0354B"/>
                </a:solidFill>
                <a:latin typeface="Noto Sans CJK SC"/>
                <a:ea typeface="Noto Sans CJK SC"/>
              </a:rPr>
              <a:t>动作前的一个起点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91472" y="3191256"/>
            <a:ext cx="2139696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163555"/>
                </a:solidFill>
                <a:latin typeface="Noto Sans CJK SC"/>
                <a:ea typeface="Noto Sans CJK SC"/>
              </a:rPr>
              <a:t>1,048,576个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675887"/>
            <a:ext cx="21396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88C"/>
                </a:solidFill>
                <a:latin typeface="Noto Sans CJK SC"/>
                <a:ea typeface="Noto Sans CJK SC"/>
              </a:rPr>
              <a:t>同状态测试不同动作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599432"/>
            <a:ext cx="2286000" cy="33832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5279A8"/>
                </a:solidFill>
                <a:latin typeface="Noto Sans CJK SC"/>
                <a:ea typeface="Noto Sans CJK SC"/>
              </a:rPr>
              <a:t>事实轨迹继续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79776" y="4498848"/>
            <a:ext cx="969264" cy="484632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43784" y="4562856"/>
            <a:ext cx="832104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xₜ₊0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785615" y="4745736"/>
            <a:ext cx="237745" cy="0"/>
          </a:xfrm>
          <a:prstGeom prst="line">
            <a:avLst/>
          </a:prstGeom>
          <a:ln w="26670">
            <a:solidFill>
              <a:srgbClr val="5279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096512" y="4498848"/>
            <a:ext cx="969264" cy="484632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60520" y="4562856"/>
            <a:ext cx="832104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xₜ₊1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02352" y="4745736"/>
            <a:ext cx="237744" cy="0"/>
          </a:xfrm>
          <a:prstGeom prst="line">
            <a:avLst/>
          </a:prstGeom>
          <a:ln w="26670">
            <a:solidFill>
              <a:srgbClr val="5279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13248" y="4498848"/>
            <a:ext cx="969264" cy="484632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77256" y="4562856"/>
            <a:ext cx="832104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900" b="1">
                <a:solidFill>
                  <a:srgbClr val="FFFFFF"/>
                </a:solidFill>
                <a:latin typeface="Noto Sans CJK SC"/>
                <a:ea typeface="Noto Sans CJK SC"/>
              </a:rPr>
              <a:t>xₜ₊2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4434840"/>
            <a:ext cx="352044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7C64A8"/>
                </a:solidFill>
                <a:latin typeface="Noto Sans CJK SC"/>
                <a:ea typeface="Noto Sans CJK SC"/>
              </a:rPr>
              <a:t>约25%源点分叉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52944" y="4928616"/>
            <a:ext cx="704088" cy="338328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16952" y="4951476"/>
            <a:ext cx="57607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b0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49056" y="4928616"/>
            <a:ext cx="704088" cy="338328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13064" y="4951476"/>
            <a:ext cx="57607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b1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45167" y="4928616"/>
            <a:ext cx="704088" cy="338328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9176" y="4951476"/>
            <a:ext cx="57607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b2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241280" y="4928616"/>
            <a:ext cx="704088" cy="338328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305288" y="4951476"/>
            <a:ext cx="576072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b3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共1,834,294行 = 1,048,576事实行 + 785,718替代动作分支行。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场景组成：1类抽象 + 6类物理 + 1类产线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8类代表性低阶原型，不是8个工业行业，也不意味着覆盖所有工业过程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9344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1168603" y="1837943"/>
            <a:ext cx="534924" cy="279807"/>
          </a:xfrm>
          <a:prstGeom prst="line">
            <a:avLst/>
          </a:prstGeom>
          <a:ln w="24130">
            <a:solidFill>
              <a:srgbClr val="52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703527" y="1837943"/>
            <a:ext cx="510235" cy="279807"/>
          </a:xfrm>
          <a:prstGeom prst="line">
            <a:avLst/>
          </a:prstGeom>
          <a:ln w="24130">
            <a:solidFill>
              <a:srgbClr val="52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168603" y="2117750"/>
            <a:ext cx="534924" cy="320954"/>
          </a:xfrm>
          <a:prstGeom prst="line">
            <a:avLst/>
          </a:prstGeom>
          <a:ln w="24130">
            <a:solidFill>
              <a:srgbClr val="52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703527" y="2117750"/>
            <a:ext cx="510235" cy="320954"/>
          </a:xfrm>
          <a:prstGeom prst="line">
            <a:avLst/>
          </a:prstGeom>
          <a:ln w="24130">
            <a:solidFill>
              <a:srgbClr val="5279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95451" y="2044598"/>
            <a:ext cx="148132" cy="148132"/>
          </a:xfrm>
          <a:prstGeom prst="ellipse">
            <a:avLst/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30375" y="1764791"/>
            <a:ext cx="148132" cy="148132"/>
          </a:xfrm>
          <a:prstGeom prst="ellipse">
            <a:avLst/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140610" y="2044598"/>
            <a:ext cx="148132" cy="148132"/>
          </a:xfrm>
          <a:prstGeom prst="ellipse">
            <a:avLst/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630375" y="2365552"/>
            <a:ext cx="148132" cy="148132"/>
          </a:xfrm>
          <a:prstGeom prst="ellipse">
            <a:avLst/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642615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5279A8"/>
                </a:solidFill>
                <a:latin typeface="Noto Sans CJK SC"/>
                <a:ea typeface="Noto Sans CJK SC"/>
              </a:rPr>
              <a:t>抽象系统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" y="3118104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实数状态耦合 / 数学先验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05456" y="1691640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5279A8"/>
                </a:solidFill>
                <a:latin typeface="Noto Sans CJK SC"/>
                <a:ea typeface="Noto Sans CJK SC"/>
              </a:rPr>
              <a:t>54套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65576" y="1609344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7251" y="1870862"/>
            <a:ext cx="411480" cy="534924"/>
          </a:xfrm>
          <a:prstGeom prst="rect">
            <a:avLst/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0308" y="1870862"/>
            <a:ext cx="411480" cy="534924"/>
          </a:xfrm>
          <a:prstGeom prst="rect">
            <a:avLst/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3087" y="2035454"/>
            <a:ext cx="329184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08A8D"/>
                </a:solidFill>
                <a:latin typeface="Noto Sans CJK SC"/>
                <a:ea typeface="Noto Sans CJK SC"/>
              </a:rPr>
              <a:t>T₁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16144" y="2035454"/>
            <a:ext cx="329184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008A8D"/>
                </a:solidFill>
                <a:latin typeface="Noto Sans CJK SC"/>
                <a:ea typeface="Noto Sans CJK SC"/>
              </a:rPr>
              <a:t>T₂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95190" y="2018995"/>
            <a:ext cx="230429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4495190" y="2274112"/>
            <a:ext cx="230429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84448" y="2642615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热网络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75304" y="3118104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加热 / 散热 / 内部传热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4104" y="1691640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008A8D"/>
                </a:solidFill>
                <a:latin typeface="Noto Sans CJK SC"/>
                <a:ea typeface="Noto Sans CJK SC"/>
              </a:rPr>
              <a:t>66套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64224" y="1609344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21016" y="1837943"/>
            <a:ext cx="353872" cy="600760"/>
          </a:xfrm>
          <a:prstGeom prst="rect">
            <a:avLst/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33361" y="2183587"/>
            <a:ext cx="329184" cy="238658"/>
          </a:xfrm>
          <a:prstGeom prst="rect">
            <a:avLst/>
          </a:prstGeom>
          <a:solidFill>
            <a:srgbClr val="D2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834225" y="2010765"/>
            <a:ext cx="362103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591348" y="2331720"/>
            <a:ext cx="411480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83096" y="2642615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加热液罐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73952" y="3118104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体积 / 热能 / 阀响应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1691640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008A8D"/>
                </a:solidFill>
                <a:latin typeface="Noto Sans CJK SC"/>
                <a:ea typeface="Noto Sans CJK SC"/>
              </a:rPr>
              <a:t>70套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62872" y="1609344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>
            <a:off x="9815169" y="1870862"/>
            <a:ext cx="0" cy="584302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9823399" y="1994306"/>
            <a:ext cx="82296" cy="148133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905695" y="1994306"/>
            <a:ext cx="98755" cy="288036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10004450" y="1994306"/>
            <a:ext cx="98755" cy="288036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103205" y="1994306"/>
            <a:ext cx="98755" cy="288036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0201960" y="1994306"/>
            <a:ext cx="98756" cy="288036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300716" y="1994306"/>
            <a:ext cx="65836" cy="148133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391241" y="1961388"/>
            <a:ext cx="395020" cy="403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89996" y="2027224"/>
            <a:ext cx="24688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008A8D"/>
                </a:solidFill>
                <a:latin typeface="Noto Sans CJK SC"/>
                <a:ea typeface="Noto Sans CJK SC"/>
              </a:rPr>
              <a:t>m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794492" y="2150668"/>
            <a:ext cx="288036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798710" y="2471623"/>
            <a:ext cx="1283818" cy="0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381744" y="2642615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机械执行器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599" y="3118104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位移 / 速度 / 力滞后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1691640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008A8D"/>
                </a:solidFill>
                <a:latin typeface="Noto Sans CJK SC"/>
                <a:ea typeface="Noto Sans CJK SC"/>
              </a:rPr>
              <a:t>50套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3648456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374343" y="3860596"/>
            <a:ext cx="666597" cy="666597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63624" y="4033418"/>
            <a:ext cx="329184" cy="32918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08A8D"/>
                </a:solidFill>
                <a:latin typeface="Noto Sans CJK SC"/>
                <a:ea typeface="Noto Sans CJK SC"/>
              </a:rPr>
              <a:t>M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094536" y="4173321"/>
            <a:ext cx="255118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2040940" y="4173321"/>
            <a:ext cx="329184" cy="0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85800" y="4681728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直流电机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" y="5157216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电流 / 转速 / 绕组热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05456" y="3730752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008A8D"/>
                </a:solidFill>
                <a:latin typeface="Noto Sans CJK SC"/>
                <a:ea typeface="Noto Sans CJK SC"/>
              </a:rPr>
              <a:t>53套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465576" y="3648456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050791" y="3877056"/>
            <a:ext cx="353872" cy="600760"/>
          </a:xfrm>
          <a:prstGeom prst="rect">
            <a:avLst/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063136" y="4222699"/>
            <a:ext cx="329184" cy="238658"/>
          </a:xfrm>
          <a:prstGeom prst="rect">
            <a:avLst/>
          </a:prstGeom>
          <a:solidFill>
            <a:srgbClr val="D2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486960" y="3877056"/>
            <a:ext cx="353872" cy="600760"/>
          </a:xfrm>
          <a:prstGeom prst="rect">
            <a:avLst/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499305" y="4222699"/>
            <a:ext cx="329184" cy="238658"/>
          </a:xfrm>
          <a:prstGeom prst="rect">
            <a:avLst/>
          </a:prstGeom>
          <a:solidFill>
            <a:srgbClr val="D2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923129" y="3877056"/>
            <a:ext cx="353872" cy="600760"/>
          </a:xfrm>
          <a:prstGeom prst="rect">
            <a:avLst/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35474" y="4222699"/>
            <a:ext cx="329184" cy="238658"/>
          </a:xfrm>
          <a:prstGeom prst="rect">
            <a:avLst/>
          </a:prstGeom>
          <a:solidFill>
            <a:srgbClr val="D2E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Connector 66"/>
          <p:cNvCxnSpPr/>
          <p:nvPr/>
        </p:nvCxnSpPr>
        <p:spPr>
          <a:xfrm>
            <a:off x="3935577" y="4049877"/>
            <a:ext cx="98755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412894" y="4263847"/>
            <a:ext cx="57607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4849063" y="4263847"/>
            <a:ext cx="57607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584448" y="4681728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耦合液罐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75304" y="5157216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2—4罐串联或分流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04104" y="3730752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008A8D"/>
                </a:solidFill>
                <a:latin typeface="Noto Sans CJK SC"/>
                <a:ea typeface="Noto Sans CJK SC"/>
              </a:rPr>
              <a:t>64套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64224" y="3648456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7007047" y="3909974"/>
            <a:ext cx="1069848" cy="56784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008A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7114031" y="4041648"/>
            <a:ext cx="822961" cy="0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H="1">
            <a:off x="7114031" y="4329684"/>
            <a:ext cx="822961" cy="0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114031" y="4189780"/>
            <a:ext cx="822961" cy="0"/>
          </a:xfrm>
          <a:prstGeom prst="line">
            <a:avLst/>
          </a:prstGeom>
          <a:ln w="24130">
            <a:solidFill>
              <a:srgbClr val="008A8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875373" y="4008729"/>
            <a:ext cx="131674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8093354" y="4379061"/>
            <a:ext cx="106985" cy="0"/>
          </a:xfrm>
          <a:prstGeom prst="line">
            <a:avLst/>
          </a:prstGeom>
          <a:ln w="2413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6483096" y="4681728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换热器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73952" y="5157216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1—3段顺流或逆流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02752" y="3730752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008A8D"/>
                </a:solidFill>
                <a:latin typeface="Noto Sans CJK SC"/>
                <a:ea typeface="Noto Sans CJK SC"/>
              </a:rPr>
              <a:t>58套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9262872" y="3648456"/>
            <a:ext cx="2697480" cy="18470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848088" y="4016959"/>
            <a:ext cx="329184" cy="3621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C6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300716" y="4016959"/>
            <a:ext cx="329184" cy="3621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C6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753344" y="4016959"/>
            <a:ext cx="329184" cy="36210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6510">
            <a:solidFill>
              <a:srgbClr val="7C6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10177272" y="4198010"/>
            <a:ext cx="106984" cy="0"/>
          </a:xfrm>
          <a:prstGeom prst="line">
            <a:avLst/>
          </a:prstGeom>
          <a:ln w="2413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629900" y="4198010"/>
            <a:ext cx="106984" cy="0"/>
          </a:xfrm>
          <a:prstGeom prst="line">
            <a:avLst/>
          </a:prstGeom>
          <a:ln w="2413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9381744" y="4681728"/>
            <a:ext cx="2450592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7C64A8"/>
                </a:solidFill>
                <a:latin typeface="Noto Sans CJK SC"/>
                <a:ea typeface="Noto Sans CJK SC"/>
              </a:rPr>
              <a:t>产线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372599" y="5157216"/>
            <a:ext cx="2468880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200" b="0">
                <a:solidFill>
                  <a:srgbClr val="65788C"/>
                </a:solidFill>
                <a:latin typeface="Noto Sans CJK SC"/>
                <a:ea typeface="Noto Sans CJK SC"/>
              </a:rPr>
              <a:t>2—4工位串联或并联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1201400" y="3730752"/>
            <a:ext cx="630936" cy="29260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400" b="1">
                <a:solidFill>
                  <a:srgbClr val="7C64A8"/>
                </a:solidFill>
                <a:latin typeface="Noto Sans CJK SC"/>
                <a:ea typeface="Noto Sans CJK SC"/>
              </a:rPr>
              <a:t>97套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离散时间 ≠ 离散数值；抽象系统同样可以产生连续实数状态。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产线扩展：2 / 3 / 4工位 × 串联 / 独立并联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每站6个状态：队列、剩余加工量、忙闲、温度、磨损、故障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" y="1627632"/>
            <a:ext cx="3611880" cy="167335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1746504"/>
            <a:ext cx="326440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64A8"/>
                </a:solidFill>
                <a:latin typeface="Noto Sans CJK SC"/>
                <a:ea typeface="Noto Sans CJK SC"/>
              </a:rPr>
              <a:t>2工位串联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17319" y="2596896"/>
            <a:ext cx="896113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377439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2303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3502152"/>
            <a:ext cx="3611880" cy="167335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" y="3621024"/>
            <a:ext cx="326440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64A8"/>
                </a:solidFill>
                <a:latin typeface="Noto Sans CJK SC"/>
                <a:ea typeface="Noto Sans CJK SC"/>
              </a:rPr>
              <a:t>2工位独立并联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184148" y="4059936"/>
            <a:ext cx="1202436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395728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50592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386584" y="4059936"/>
            <a:ext cx="269748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34840" y="1627632"/>
            <a:ext cx="3611880" cy="167335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1" y="1746504"/>
            <a:ext cx="326440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64A8"/>
                </a:solidFill>
                <a:latin typeface="Noto Sans CJK SC"/>
                <a:ea typeface="Noto Sans CJK SC"/>
              </a:rPr>
              <a:t>3工位串联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45736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76088" y="2596896"/>
            <a:ext cx="399287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39384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94247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69736" y="2596896"/>
            <a:ext cx="399288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733032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7896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3502152"/>
            <a:ext cx="3611880" cy="167335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1" y="3621024"/>
            <a:ext cx="326440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64A8"/>
                </a:solidFill>
                <a:latin typeface="Noto Sans CJK SC"/>
                <a:ea typeface="Noto Sans CJK SC"/>
              </a:rPr>
              <a:t>3工位独立并联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82312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7175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5042916" y="4059936"/>
            <a:ext cx="1202436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763767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18631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024372" y="4059936"/>
            <a:ext cx="220980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6745224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00088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45352" y="4059936"/>
            <a:ext cx="760476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293608" y="1627632"/>
            <a:ext cx="3611880" cy="167335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58200" y="1746504"/>
            <a:ext cx="326440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64A8"/>
                </a:solidFill>
                <a:latin typeface="Noto Sans CJK SC"/>
                <a:ea typeface="Noto Sans CJK SC"/>
              </a:rPr>
              <a:t>4工位串联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04504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59368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34856" y="2596896"/>
            <a:ext cx="150876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349740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404604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880092" y="2596896"/>
            <a:ext cx="150875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10094976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625328" y="2596896"/>
            <a:ext cx="150876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0840212" y="2340864"/>
            <a:ext cx="512064" cy="521207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895076" y="2441448"/>
            <a:ext cx="38404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293608" y="3502152"/>
            <a:ext cx="3611880" cy="167335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58200" y="3621024"/>
            <a:ext cx="326440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7C64A8"/>
                </a:solidFill>
                <a:latin typeface="Noto Sans CJK SC"/>
                <a:ea typeface="Noto Sans CJK SC"/>
              </a:rPr>
              <a:t>4工位独立并联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641080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95944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cxnSp>
        <p:nvCxnSpPr>
          <p:cNvPr id="60" name="Connector 59"/>
          <p:cNvCxnSpPr/>
          <p:nvPr/>
        </p:nvCxnSpPr>
        <p:spPr>
          <a:xfrm flipH="1">
            <a:off x="8901684" y="4059936"/>
            <a:ext cx="1202436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9377172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432036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cxnSp>
        <p:nvCxnSpPr>
          <p:cNvPr id="63" name="Connector 62"/>
          <p:cNvCxnSpPr/>
          <p:nvPr/>
        </p:nvCxnSpPr>
        <p:spPr>
          <a:xfrm flipH="1">
            <a:off x="9637776" y="4059936"/>
            <a:ext cx="466344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10113264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168128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10104120" y="4059936"/>
            <a:ext cx="269748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10849356" y="4297680"/>
            <a:ext cx="521207" cy="493776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904220" y="4389120"/>
            <a:ext cx="393192" cy="2651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4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10104120" y="4059936"/>
            <a:ext cx="1005840" cy="201168"/>
          </a:xfrm>
          <a:prstGeom prst="line">
            <a:avLst/>
          </a:prstGeom>
          <a:ln w="1524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58952" y="5550408"/>
            <a:ext cx="3227832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08A8D"/>
                </a:solidFill>
                <a:latin typeface="Noto Sans CJK SC"/>
                <a:ea typeface="Noto Sans CJK SC"/>
              </a:rPr>
              <a:t>控制：速度 + 维护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35424" y="5550408"/>
            <a:ext cx="3383280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0354B"/>
                </a:solidFill>
                <a:latin typeface="Noto Sans CJK SC"/>
                <a:ea typeface="Noto Sans CJK SC"/>
              </a:rPr>
              <a:t>串联：堵塞 / 缺料传播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348472" y="5550408"/>
            <a:ext cx="3264408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20354B"/>
                </a:solidFill>
                <a:latin typeface="Noto Sans CJK SC"/>
                <a:ea typeface="Noto Sans CJK SC"/>
              </a:rPr>
              <a:t>并联：机台各自加工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布局只是代表性加工机制，不复现完整工厂，也不模拟切削或产品质量。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同源动作分支：同一个起点，换动作再算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真实数组样例｜机械执行器 world3 / source6147 / Δt≈0.01043秒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2231136"/>
            <a:ext cx="3246120" cy="2249424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95728"/>
            <a:ext cx="2880360" cy="41148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8A8D"/>
                </a:solidFill>
                <a:latin typeface="Noto Sans CJK SC"/>
                <a:ea typeface="Noto Sans CJK SC"/>
              </a:rPr>
              <a:t>相同动作前状态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81528"/>
            <a:ext cx="2761488" cy="11795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位移 18.1189 mm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速度 -0.038733 m/s</a:t>
            </a:r>
          </a:p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实际力 0.168311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600200"/>
            <a:ext cx="2843784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163555"/>
                </a:solidFill>
                <a:latin typeface="Noto Sans CJK SC"/>
                <a:ea typeface="Noto Sans CJK SC"/>
              </a:rPr>
              <a:t>分支 / 动作命令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1600200"/>
            <a:ext cx="2907792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163555"/>
                </a:solidFill>
                <a:latin typeface="Noto Sans CJK SC"/>
                <a:ea typeface="Noto Sans CJK SC"/>
              </a:rPr>
              <a:t>下一实际力 f / N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005072" y="2505456"/>
            <a:ext cx="530352" cy="813816"/>
          </a:xfrm>
          <a:prstGeom prst="line">
            <a:avLst/>
          </a:prstGeom>
          <a:ln w="16510">
            <a:solidFill>
              <a:srgbClr val="5279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17720" y="2231136"/>
            <a:ext cx="2898648" cy="576072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322576"/>
            <a:ext cx="2606040" cy="3931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b0  +0.3363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44383" y="2514600"/>
            <a:ext cx="502921" cy="0"/>
          </a:xfrm>
          <a:prstGeom prst="line">
            <a:avLst/>
          </a:prstGeom>
          <a:ln w="26670">
            <a:solidFill>
              <a:srgbClr val="5279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439912" y="2267712"/>
            <a:ext cx="2761488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5279A8"/>
                </a:solidFill>
                <a:latin typeface="Noto Sans CJK SC"/>
                <a:ea typeface="Noto Sans CJK SC"/>
              </a:rPr>
              <a:t>+1.386064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05072" y="3319272"/>
            <a:ext cx="530352" cy="0"/>
          </a:xfrm>
          <a:prstGeom prst="line">
            <a:avLst/>
          </a:prstGeom>
          <a:ln w="16510">
            <a:solidFill>
              <a:srgbClr val="CE76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617720" y="3044952"/>
            <a:ext cx="2898648" cy="576072"/>
          </a:xfrm>
          <a:prstGeom prst="roundRect">
            <a:avLst>
              <a:gd name="adj" fmla="val 12000"/>
            </a:avLst>
          </a:prstGeom>
          <a:solidFill>
            <a:srgbClr val="CE76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80" y="3136392"/>
            <a:ext cx="2606040" cy="3931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b1  -1.0000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44383" y="3328416"/>
            <a:ext cx="502921" cy="0"/>
          </a:xfrm>
          <a:prstGeom prst="line">
            <a:avLst/>
          </a:prstGeom>
          <a:ln w="26670">
            <a:solidFill>
              <a:srgbClr val="CE763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39912" y="3081528"/>
            <a:ext cx="2761488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CE7631"/>
                </a:solidFill>
                <a:latin typeface="Noto Sans CJK SC"/>
                <a:ea typeface="Noto Sans CJK SC"/>
              </a:rPr>
              <a:t>-3.515836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05072" y="3319272"/>
            <a:ext cx="530352" cy="813815"/>
          </a:xfrm>
          <a:prstGeom prst="line">
            <a:avLst/>
          </a:prstGeom>
          <a:ln w="1651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617720" y="3858768"/>
            <a:ext cx="2898648" cy="576072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950207"/>
            <a:ext cx="2606040" cy="3931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b2  +0.5495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644383" y="4142231"/>
            <a:ext cx="502921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39912" y="3895344"/>
            <a:ext cx="2761488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08A8D"/>
                </a:solidFill>
                <a:latin typeface="Noto Sans CJK SC"/>
                <a:ea typeface="Noto Sans CJK SC"/>
              </a:rPr>
              <a:t>+2.167951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05072" y="3319272"/>
            <a:ext cx="530352" cy="1627631"/>
          </a:xfrm>
          <a:prstGeom prst="line">
            <a:avLst/>
          </a:prstGeom>
          <a:ln w="1651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617720" y="4672583"/>
            <a:ext cx="2898648" cy="576072"/>
          </a:xfrm>
          <a:prstGeom prst="roundRect">
            <a:avLst>
              <a:gd name="adj" fmla="val 12000"/>
            </a:avLst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0" y="4764023"/>
            <a:ext cx="2606040" cy="3931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</a:rPr>
              <a:t>b3  +0.0609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644383" y="4956047"/>
            <a:ext cx="502921" cy="0"/>
          </a:xfrm>
          <a:prstGeom prst="line">
            <a:avLst/>
          </a:prstGeom>
          <a:ln w="26670">
            <a:solidFill>
              <a:srgbClr val="7C64A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39912" y="4709159"/>
            <a:ext cx="2761488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7C64A8"/>
                </a:solidFill>
                <a:latin typeface="Noto Sans CJK SC"/>
                <a:ea typeface="Noto Sans CJK SC"/>
              </a:rPr>
              <a:t>+0.375547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b0继续原轨迹；b1—b3只记录替代动作的一步结果，不改写事实轨迹。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数据规模与质量：不只是增加样本行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原型4 → 8；工业program 7 → 24；产线布局1 → 6（相对旧pilot）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来源：稿件 §02/06/09；dataset-summary.json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08</a:t>
            </a:r>
          </a:p>
        </p:txBody>
      </p:sp>
      <p:pic>
        <p:nvPicPr>
          <p:cNvPr id="7" name="Picture 6" descr="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967" y="1655064"/>
            <a:ext cx="3618136" cy="327355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599432" y="2011680"/>
            <a:ext cx="182880" cy="182880"/>
          </a:xfrm>
          <a:prstGeom prst="ellipse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9472" y="1920240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物理ODE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883664"/>
            <a:ext cx="1856231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08A8D"/>
                </a:solidFill>
                <a:latin typeface="Noto Sans CJK SC"/>
                <a:ea typeface="Noto Sans CJK SC"/>
              </a:rPr>
              <a:t>70.52%</a:t>
            </a:r>
          </a:p>
        </p:txBody>
      </p:sp>
      <p:sp>
        <p:nvSpPr>
          <p:cNvPr id="11" name="Oval 10"/>
          <p:cNvSpPr/>
          <p:nvPr/>
        </p:nvSpPr>
        <p:spPr>
          <a:xfrm>
            <a:off x="4599432" y="2898648"/>
            <a:ext cx="182880" cy="182880"/>
          </a:xfrm>
          <a:prstGeom prst="ellipse">
            <a:avLst/>
          </a:prstGeom>
          <a:solidFill>
            <a:srgbClr val="7C64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2807208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混合产线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770632"/>
            <a:ext cx="1856231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7C64A8"/>
                </a:solidFill>
                <a:latin typeface="Noto Sans CJK SC"/>
                <a:ea typeface="Noto Sans CJK SC"/>
              </a:rPr>
              <a:t>18.91%</a:t>
            </a:r>
          </a:p>
        </p:txBody>
      </p:sp>
      <p:sp>
        <p:nvSpPr>
          <p:cNvPr id="14" name="Oval 13"/>
          <p:cNvSpPr/>
          <p:nvPr/>
        </p:nvSpPr>
        <p:spPr>
          <a:xfrm>
            <a:off x="4599432" y="3785615"/>
            <a:ext cx="182880" cy="182880"/>
          </a:xfrm>
          <a:prstGeom prst="ellipse">
            <a:avLst/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3694176"/>
            <a:ext cx="207568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抽象系统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657600"/>
            <a:ext cx="1856231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5279A8"/>
                </a:solidFill>
                <a:latin typeface="Noto Sans CJK SC"/>
                <a:ea typeface="Noto Sans CJK SC"/>
              </a:rPr>
              <a:t>10.57%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71432" y="1819656"/>
            <a:ext cx="2322576" cy="10789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929384"/>
            <a:ext cx="2011680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512 / 4,096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487168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设备 / 轨迹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71432" y="3191256"/>
            <a:ext cx="2322576" cy="10789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3300984"/>
            <a:ext cx="2011680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408 / 52 / 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858768"/>
            <a:ext cx="20116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训练 / 验证 / 测试设备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96519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08A8D"/>
                </a:solidFill>
                <a:latin typeface="Noto Sans CJK SC"/>
                <a:ea typeface="Noto Sans CJK SC"/>
              </a:rPr>
              <a:t>完整验证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468112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183.4万行通过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96519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08A8D"/>
                </a:solidFill>
                <a:latin typeface="Noto Sans CJK SC"/>
                <a:ea typeface="Noto Sans CJK SC"/>
              </a:rPr>
              <a:t>分支重放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468112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抽查2,718个源点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965192"/>
            <a:ext cx="349300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008A8D"/>
                </a:solidFill>
                <a:latin typeface="Noto Sans CJK SC"/>
                <a:ea typeface="Noto Sans CJK SC"/>
              </a:rPr>
              <a:t>参考积分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5468112"/>
            <a:ext cx="3493008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最大归一化误差6.69×10⁻⁷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机制合理、数值正确、模型有效：三层证据，不能彼此替代。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如何训练：context给示例，query让模型作答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world隔离；同一设备内部再隔离episode与source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822191" cy="3429000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456432" cy="3931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163555"/>
                </a:solidFill>
                <a:latin typeface="Noto Sans CJK SC"/>
                <a:ea typeface="Noto Sans CJK SC"/>
              </a:rPr>
              <a:t>一套设备的8条轨迹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" y="2642616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761488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C1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3936" y="2642616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10512" y="2761488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C2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2615" y="2642616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1" y="2761488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C3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11296" y="2642616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761488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C4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" y="3493008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361188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Q1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73936" y="3493008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10512" y="361188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Q2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42615" y="3493008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9191" y="361188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Q3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11296" y="3493008"/>
            <a:ext cx="713232" cy="548640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47872" y="3611880"/>
            <a:ext cx="64008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</a:rPr>
              <a:t>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434840"/>
            <a:ext cx="3337560" cy="5943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65788C"/>
                </a:solidFill>
                <a:latin typeface="Noto Sans CJK SC"/>
                <a:ea typeface="Noto Sans CJK SC"/>
              </a:rPr>
              <a:t>上：context轨迹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65788C"/>
                </a:solidFill>
                <a:latin typeface="Noto Sans CJK SC"/>
                <a:ea typeface="Noto Sans CJK SC"/>
              </a:rPr>
              <a:t>下：query轨迹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26864" y="2935224"/>
            <a:ext cx="438912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166360" y="1920240"/>
            <a:ext cx="6364224" cy="1097280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85816" y="2148840"/>
            <a:ext cx="5879592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600" b="1">
                <a:solidFill>
                  <a:srgbClr val="FFFFFF"/>
                </a:solidFill>
                <a:latin typeface="Noto Sans CJK SC"/>
                <a:ea typeface="Noto Sans CJK SC"/>
              </a:rPr>
              <a:t>960条context：输入 + 已知答案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66360" y="3319272"/>
            <a:ext cx="6364224" cy="1097280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85816" y="3529584"/>
            <a:ext cx="5888736" cy="5394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FFFFFF"/>
                </a:solidFill>
                <a:latin typeface="Noto Sans CJK SC"/>
                <a:ea typeface="Noto Sans CJK SC"/>
              </a:rPr>
              <a:t>256条query：输入 → 预测 → 对照真值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67528" y="4764024"/>
            <a:ext cx="5870448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0">
                <a:solidFill>
                  <a:srgbClr val="20354B"/>
                </a:solidFill>
                <a:latin typeface="Noto Sans CJK SC"/>
                <a:ea typeface="Noto Sans CJK SC"/>
              </a:rPr>
              <a:t>连续量：下一状态 − 当前状态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67528" y="5230368"/>
            <a:ext cx="5870448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65788C"/>
                </a:solidFill>
                <a:latin typeface="Noto Sans CJK SC"/>
                <a:ea typeface="Noto Sans CJK SC"/>
              </a:rPr>
              <a:t>计数 / 二值：下一值；缩放仅由context拟合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训练query配对b0/b1，但普通MSE计算全部query行；b2/b3存储不等于本轮全部训练。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模型对照：数据收益与CAQ结构收益分开看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相同官方初始化、相同工业任务序列、各30k步；不是旧工业模型续训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92224"/>
            <a:ext cx="3630168" cy="23042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32103" y="1965960"/>
            <a:ext cx="1865376" cy="338328"/>
          </a:xfrm>
          <a:prstGeom prst="roundRect">
            <a:avLst>
              <a:gd name="adj" fmla="val 12000"/>
            </a:avLst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88819"/>
            <a:ext cx="1737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工业训练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2615184"/>
            <a:ext cx="3282696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CAQ-TabICL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236976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0354B"/>
                </a:solidFill>
                <a:latin typeface="Noto Sans CJK SC"/>
                <a:ea typeface="Noto Sans CJK SC"/>
              </a:rPr>
              <a:t>状态 → 行/列表示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20354B"/>
                </a:solidFill>
                <a:latin typeface="Noto Sans CJK SC"/>
                <a:ea typeface="Noto Sans CJK SC"/>
              </a:rPr>
              <a:t>动作 → 专用causal通道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1792224"/>
            <a:ext cx="3630168" cy="23042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18304" y="1965960"/>
            <a:ext cx="1865376" cy="338328"/>
          </a:xfrm>
          <a:prstGeom prst="roundRect">
            <a:avLst>
              <a:gd name="adj" fmla="val 12000"/>
            </a:avLst>
          </a:prstGeom>
          <a:solidFill>
            <a:srgbClr val="52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82312" y="1988819"/>
            <a:ext cx="1737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工业训练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615184"/>
            <a:ext cx="3282696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5279A8"/>
                </a:solidFill>
                <a:latin typeface="Noto Sans CJK SC"/>
                <a:ea typeface="Noto Sans CJK SC"/>
              </a:rPr>
              <a:t>TabICL-FT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3236976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0354B"/>
                </a:solidFill>
                <a:latin typeface="Noto Sans CJK SC"/>
                <a:ea typeface="Noto Sans CJK SC"/>
              </a:rPr>
              <a:t>状态 + 相同动作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20354B"/>
                </a:solidFill>
                <a:latin typeface="Noto Sans CJK SC"/>
                <a:ea typeface="Noto Sans CJK SC"/>
              </a:rPr>
              <a:t>作为普通特征表输入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1792224"/>
            <a:ext cx="3630168" cy="2304288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04504" y="1965960"/>
            <a:ext cx="1865376" cy="338328"/>
          </a:xfrm>
          <a:prstGeom prst="roundRect">
            <a:avLst>
              <a:gd name="adj" fmla="val 12000"/>
            </a:avLst>
          </a:prstGeom>
          <a:solidFill>
            <a:srgbClr val="657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1988819"/>
            <a:ext cx="1737360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不做梯度训练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4504" y="2615184"/>
            <a:ext cx="3282696" cy="5120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65788C"/>
                </a:solidFill>
                <a:latin typeface="Noto Sans CJK SC"/>
                <a:ea typeface="Noto Sans CJK SC"/>
              </a:rPr>
              <a:t>官方未微调TabICL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22792" y="3236976"/>
            <a:ext cx="3200400" cy="82296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0">
                <a:solidFill>
                  <a:srgbClr val="20354B"/>
                </a:solidFill>
                <a:latin typeface="Noto Sans CJK SC"/>
                <a:ea typeface="Noto Sans CJK SC"/>
              </a:rPr>
              <a:t>fit：960条已知示例</a:t>
            </a:r>
          </a:p>
          <a:p>
            <a:pPr algn="l">
              <a:spcAft>
                <a:spcPts val="500"/>
              </a:spcAft>
            </a:pPr>
            <a:r>
              <a:rPr sz="1900" b="0">
                <a:solidFill>
                  <a:srgbClr val="20354B"/>
                </a:solidFill>
                <a:latin typeface="Noto Sans CJK SC"/>
                <a:ea typeface="Noto Sans CJK SC"/>
              </a:rPr>
              <a:t>predict：256条query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" y="4626864"/>
            <a:ext cx="35112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同信息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157216"/>
            <a:ext cx="3529584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65788C"/>
                </a:solidFill>
                <a:latin typeface="Noto Sans CJK SC"/>
                <a:ea typeface="Noto Sans CJK SC"/>
              </a:rPr>
              <a:t>公开状态 / 动作 / 外部条件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4626864"/>
            <a:ext cx="35112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同预算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5157216"/>
            <a:ext cx="3529584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65788C"/>
                </a:solidFill>
                <a:latin typeface="Noto Sans CJK SC"/>
                <a:ea typeface="Noto Sans CJK SC"/>
              </a:rPr>
              <a:t>各30k：80%工业 + 20%SCM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94776" y="4626864"/>
            <a:ext cx="3511296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同协议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94776" y="5157216"/>
            <a:ext cx="3529584" cy="49377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65788C"/>
                </a:solidFill>
                <a:latin typeface="Noto Sans CJK SC"/>
                <a:ea typeface="Noto Sans CJK SC"/>
              </a:rPr>
              <a:t>960 / 256，full-state，hr0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两个微调模型冻结ICL predictor；CAQ另训练动作模块。未微调 ≠ 没有context。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指标口径：不同物理单位，先归一化再聚合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主指标：固定物理参考尺度归一化MSE ↓，不是原始物理单位MSE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48256"/>
            <a:ext cx="2450592" cy="24048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49424"/>
            <a:ext cx="211226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物理误差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62656"/>
            <a:ext cx="21031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0354B"/>
                </a:solidFill>
                <a:latin typeface="Noto Sans CJK SC"/>
                <a:ea typeface="Noto Sans CJK SC"/>
              </a:rPr>
              <a:t>预测 − 真值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895344"/>
            <a:ext cx="2112264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K / J / m…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227832"/>
            <a:ext cx="329184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21024" y="2048256"/>
            <a:ext cx="2450592" cy="24048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2249424"/>
            <a:ext cx="211226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固定尺度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2962656"/>
            <a:ext cx="21031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0354B"/>
                </a:solidFill>
                <a:latin typeface="Noto Sans CJK SC"/>
                <a:ea typeface="Noto Sans CJK SC"/>
              </a:rPr>
              <a:t>误差 ÷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85615" y="3895344"/>
            <a:ext cx="2112264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预先规定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35624" y="3227832"/>
            <a:ext cx="329184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56248" y="2048256"/>
            <a:ext cx="2450592" cy="24048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11696" y="2249424"/>
            <a:ext cx="211226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每目标MSE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2962656"/>
            <a:ext cx="21031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0354B"/>
                </a:solidFill>
                <a:latin typeface="Noto Sans CJK SC"/>
                <a:ea typeface="Noto Sans CJK SC"/>
              </a:rPr>
              <a:t>平方 → query平均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895344"/>
            <a:ext cx="2112264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256条预测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70848" y="3227832"/>
            <a:ext cx="329184" cy="0"/>
          </a:xfrm>
          <a:prstGeom prst="line">
            <a:avLst/>
          </a:prstGeom>
          <a:ln w="26670">
            <a:solidFill>
              <a:srgbClr val="008A8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91472" y="2048256"/>
            <a:ext cx="2450592" cy="240487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6919" y="2249424"/>
            <a:ext cx="2112264" cy="42062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008A8D"/>
                </a:solidFill>
                <a:latin typeface="Noto Sans CJK SC"/>
                <a:ea typeface="Noto Sans CJK SC"/>
              </a:rPr>
              <a:t>宏平均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6919" y="2962656"/>
            <a:ext cx="2103120" cy="7589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0">
                <a:solidFill>
                  <a:srgbClr val="20354B"/>
                </a:solidFill>
                <a:latin typeface="Noto Sans CJK SC"/>
                <a:ea typeface="Noto Sans CJK SC"/>
              </a:rPr>
              <a:t>目标 → 设备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56063" y="3895344"/>
            <a:ext cx="2112264" cy="30175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52台设备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965192"/>
            <a:ext cx="43891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5279A8"/>
                </a:solidFill>
                <a:latin typeface="Noto Sans CJK SC"/>
                <a:ea typeface="Noto Sans CJK SC"/>
              </a:rPr>
              <a:t>context标准化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58968"/>
            <a:ext cx="448056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65788C"/>
                </a:solidFill>
                <a:latin typeface="Noto Sans CJK SC"/>
                <a:ea typeface="Noto Sans CJK SC"/>
              </a:rPr>
              <a:t>让训练输入/标签数值合适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4965192"/>
            <a:ext cx="4389120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1">
                <a:solidFill>
                  <a:srgbClr val="008A8D"/>
                </a:solidFill>
                <a:latin typeface="Noto Sans CJK SC"/>
                <a:ea typeface="Noto Sans CJK SC"/>
              </a:rPr>
              <a:t>固定参考尺度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11696" y="5458968"/>
            <a:ext cx="4389120" cy="34747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65788C"/>
                </a:solidFill>
                <a:latin typeface="Noto Sans CJK SC"/>
                <a:ea typeface="Noto Sans CJK SC"/>
              </a:rPr>
              <a:t>让不同单位的评估误差可聚合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三模型使用相同任务、目标和参考尺度；没有通过修改尺度降低MSE。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训练结果：CAQ后期更稳，但最佳不在最后一步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seed42｜30k成功更新｜无跳步 / 无回滚｜验证仅用于选择best.pt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来源：industrial-v2/*/evaluations.json 与 summary.json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12</a:t>
            </a:r>
          </a:p>
        </p:txBody>
      </p:sp>
      <p:pic>
        <p:nvPicPr>
          <p:cNvPr id="7" name="Picture 6" descr="valid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827085"/>
            <a:ext cx="8010144" cy="358787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869680" y="1764792"/>
            <a:ext cx="2660904" cy="158191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43416" y="1892807"/>
            <a:ext cx="2295144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CAQ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43416" y="2395728"/>
            <a:ext cx="2276856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008A8D"/>
                </a:solidFill>
                <a:latin typeface="Noto Sans CJK SC"/>
                <a:ea typeface="Noto Sans CJK SC"/>
              </a:rPr>
              <a:t>best  0.1061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3416" y="2962656"/>
            <a:ext cx="230428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88C"/>
                </a:solidFill>
                <a:latin typeface="Noto Sans CJK SC"/>
                <a:ea typeface="Noto Sans CJK SC"/>
              </a:rPr>
              <a:t>19k步  /  final 0.1189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3621024"/>
            <a:ext cx="2660904" cy="158191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3749039"/>
            <a:ext cx="2295144" cy="35661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5279A8"/>
                </a:solidFill>
                <a:latin typeface="Noto Sans CJK SC"/>
                <a:ea typeface="Noto Sans CJK SC"/>
              </a:rPr>
              <a:t>TabICL-FT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4251960"/>
            <a:ext cx="2276856" cy="429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500" b="1">
                <a:solidFill>
                  <a:srgbClr val="5279A8"/>
                </a:solidFill>
                <a:latin typeface="Noto Sans CJK SC"/>
                <a:ea typeface="Noto Sans CJK SC"/>
              </a:rPr>
              <a:t>best  0.2068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4818888"/>
            <a:ext cx="2304288" cy="24688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5788C"/>
                </a:solidFill>
                <a:latin typeface="Noto Sans CJK SC"/>
                <a:ea typeface="Noto Sans CJK SC"/>
              </a:rPr>
              <a:t>15k步  /  final 0.3116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正式测试提前锁定CAQ 19k与FT 15k；不能用测试集再挑更好的checkpoint。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正式测试：CAQ较同预算FT误差低10.7%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52个留出设备｜checkpoint已锁定｜同一typed输入协议｜单训练seed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来源：meta-test-seed42-context960-query256-official8/report.json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13</a:t>
            </a:r>
          </a:p>
        </p:txBody>
      </p:sp>
      <p:pic>
        <p:nvPicPr>
          <p:cNvPr id="7" name="Picture 6" descr="test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02299"/>
            <a:ext cx="8604504" cy="36648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345168" y="1847088"/>
            <a:ext cx="2221992" cy="10789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00616" y="1956816"/>
            <a:ext cx="1911096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008A8D"/>
                </a:solidFill>
                <a:latin typeface="Noto Sans CJK SC"/>
                <a:ea typeface="Noto Sans CJK SC"/>
              </a:rPr>
              <a:t>10.7%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2514600"/>
            <a:ext cx="19110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CAQ相对FT误差降低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45168" y="3364992"/>
            <a:ext cx="2221992" cy="10789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0616" y="3474720"/>
            <a:ext cx="1911096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008A8D"/>
                </a:solidFill>
                <a:latin typeface="Noto Sans CJK SC"/>
                <a:ea typeface="Noto Sans CJK SC"/>
              </a:rPr>
              <a:t>96.0%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16" y="4032504"/>
            <a:ext cx="191109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CAQ相对官方误差降低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工业训练收益明显；CAQ额外结构优势较小。官方基线结论仅限当前输入协议。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按原型看：有优势，也有仍然落后的场景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正值：CAQ更好；负值：FT更好。均使用同一个锁定best.pt，不逐场景挑模型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来源：正式meta_test报告的scenario_macro_fixed_scale_mse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14</a:t>
            </a:r>
          </a:p>
        </p:txBody>
      </p:sp>
      <p:pic>
        <p:nvPicPr>
          <p:cNvPr id="7" name="Picture 6" descr="scenario_redu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05" y="1499616"/>
            <a:ext cx="6746748" cy="42611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76488" y="1819656"/>
            <a:ext cx="2862072" cy="10789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31936" y="1929384"/>
            <a:ext cx="2551176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008A8D"/>
                </a:solidFill>
                <a:latin typeface="Noto Sans CJK SC"/>
                <a:ea typeface="Noto Sans CJK SC"/>
              </a:rPr>
              <a:t>6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1936" y="2487168"/>
            <a:ext cx="255117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原型平均误差更低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6488" y="3218688"/>
            <a:ext cx="2862072" cy="10789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31936" y="3328416"/>
            <a:ext cx="2551176" cy="4846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5279A8"/>
                </a:solidFill>
                <a:latin typeface="Noto Sans CJK SC"/>
                <a:ea typeface="Noto Sans CJK SC"/>
              </a:rPr>
              <a:t>24 / 52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1936" y="3886200"/>
            <a:ext cx="2551176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逐设备误差更低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4709160"/>
            <a:ext cx="3154680" cy="7315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CE7631"/>
                </a:solidFill>
                <a:latin typeface="Noto Sans CJK SC"/>
                <a:ea typeface="Noto Sans CJK SC"/>
              </a:rPr>
              <a:t>落后：耦合液罐、换热器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不同设备、不同机制上的收益不均匀；保留失败场景比只报总分更有解释力。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目前短板与下一步：维护重置，而不是继续盲目加量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world444（三工位串联）约占两个微调模型总误差的61%；难例未删除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1911095"/>
            <a:ext cx="3502152" cy="2084831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3584" y="2103120"/>
            <a:ext cx="3154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5279A8"/>
                </a:solidFill>
                <a:latin typeface="Noto Sans CJK SC"/>
                <a:ea typeface="Noto Sans CJK SC"/>
              </a:rPr>
              <a:t>context中最大下降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9304" y="2788920"/>
            <a:ext cx="307238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>
                <a:solidFill>
                  <a:srgbClr val="5279A8"/>
                </a:solidFill>
                <a:latin typeface="Noto Sans CJK SC"/>
                <a:ea typeface="Noto Sans CJK SC"/>
              </a:rPr>
              <a:t>0.148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557016"/>
            <a:ext cx="30815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磨损增量的绝对幅度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65192" y="1911095"/>
            <a:ext cx="3502152" cy="2084831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 w="16510">
            <a:solidFill>
              <a:srgbClr val="D8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9783" y="2103120"/>
            <a:ext cx="3154680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100" b="1">
                <a:solidFill>
                  <a:srgbClr val="CE7631"/>
                </a:solidFill>
                <a:latin typeface="Noto Sans CJK SC"/>
                <a:ea typeface="Noto Sans CJK SC"/>
              </a:rPr>
              <a:t>query中最大下降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788920"/>
            <a:ext cx="3072384" cy="6309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000" b="1">
                <a:solidFill>
                  <a:srgbClr val="CE7631"/>
                </a:solidFill>
                <a:latin typeface="Noto Sans CJK SC"/>
                <a:ea typeface="Noto Sans CJK SC"/>
              </a:rPr>
              <a:t>0.358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3557016"/>
            <a:ext cx="3081528" cy="2743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65788C"/>
                </a:solidFill>
                <a:latin typeface="Noto Sans CJK SC"/>
                <a:ea typeface="Noto Sans CJK SC"/>
              </a:rPr>
              <a:t>磨损增量的绝对幅度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87968" y="1911095"/>
            <a:ext cx="2505456" cy="2084831"/>
          </a:xfrm>
          <a:prstGeom prst="roundRect">
            <a:avLst>
              <a:gd name="adj" fmla="val 12000"/>
            </a:avLst>
          </a:prstGeom>
          <a:solidFill>
            <a:srgbClr val="16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2157984"/>
            <a:ext cx="2148840" cy="46634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不是零维护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2926080"/>
            <a:ext cx="2130552" cy="8595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context含维护示例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</a:rPr>
              <a:t>但重置范围更小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645152"/>
            <a:ext cx="353872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① 查覆盖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3502152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在训练/验证集诊断维护幅度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645152"/>
            <a:ext cx="353872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② 做消融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5212080"/>
            <a:ext cx="3502152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同预算检验动作通道贡献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645152"/>
            <a:ext cx="3538728" cy="38404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200" b="1">
                <a:solidFill>
                  <a:srgbClr val="008A8D"/>
                </a:solidFill>
                <a:latin typeface="Noto Sans CJK SC"/>
                <a:ea typeface="Noto Sans CJK SC"/>
              </a:rPr>
              <a:t>③ 补泛化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212080"/>
            <a:ext cx="3502152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多seed与独立机制/场景测试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当前是单seed模拟设备测试；不是未见机制迁移，更不是已验证真实工厂可用。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8A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064240" cy="6035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3000" b="1">
                <a:solidFill>
                  <a:srgbClr val="163555"/>
                </a:solidFill>
                <a:latin typeface="Noto Sans CJK SC"/>
                <a:ea typeface="Noto Sans CJK SC"/>
              </a:rPr>
              <a:t>备份：正式测试原型结果与核对入口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972800" cy="40233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65788C"/>
                </a:solidFill>
                <a:latin typeface="Noto Sans CJK SC"/>
                <a:ea typeface="Noto Sans CJK SC"/>
              </a:rPr>
              <a:t>所有数值均为参考尺度归一化MSE；本页按需展示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64808"/>
            <a:ext cx="10607040" cy="21945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65788C"/>
                </a:solidFill>
                <a:latin typeface="Noto Sans CJK SC"/>
                <a:ea typeface="Noto Sans CJK SC"/>
              </a:rPr>
              <a:t>稿件：ICDS v0.3.0｜数据：industrial-v2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28232"/>
            <a:ext cx="365760" cy="25603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100" b="0">
                <a:solidFill>
                  <a:srgbClr val="65788C"/>
                </a:solidFill>
                <a:latin typeface="Noto Sans CJK SC"/>
                <a:ea typeface="Noto Sans CJK SC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10872216" cy="475488"/>
          </a:xfrm>
          <a:prstGeom prst="rect">
            <a:avLst/>
          </a:prstGeom>
          <a:solidFill>
            <a:srgbClr val="16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0200"/>
            <a:ext cx="2734056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原型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600200"/>
            <a:ext cx="196596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CAQ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7880" y="1600200"/>
            <a:ext cx="196596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TabICL-FT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0727" y="1600200"/>
            <a:ext cx="201168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官方未微调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5016" y="1600200"/>
            <a:ext cx="612648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FFFFFF"/>
                </a:solidFill>
                <a:latin typeface="Noto Sans CJK SC"/>
                <a:ea typeface="Noto Sans CJK SC"/>
              </a:rPr>
              <a:t>设备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002536"/>
            <a:ext cx="10872216" cy="384048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061972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抽象系统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061972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0.000841651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2061972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0.000859979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0727" y="2061972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0.00235934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5016" y="2061972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455164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热网络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2455164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0.00185777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455164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0.00315798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0727" y="2455164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0.0296062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15016" y="2455164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788920"/>
            <a:ext cx="10872216" cy="384048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2848356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加热液罐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2848356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0.822399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2848356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1.06219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7" y="2848356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22.0712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5016" y="2848356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241548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机械执行器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03320" y="3241548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0.000101042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3241548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0.000194905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7" y="3241548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0.00331632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5016" y="3241548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3575304"/>
            <a:ext cx="10872216" cy="384048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3634740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直流电机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634740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0.0105739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97880" y="3634740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0.0122256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7" y="3634740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0.0389305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15016" y="3634740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8" y="4027932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耦合液罐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4027932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0.0264893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4027932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0.0220707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0727" y="4027932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0.141049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15016" y="4027932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5800" y="4361688"/>
            <a:ext cx="10872216" cy="384048"/>
          </a:xfrm>
          <a:prstGeom prst="rect">
            <a:avLst/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" y="4421124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换热器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03320" y="4421124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0.00463907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4421124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0.00415565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0727" y="4421124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0.0154242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15016" y="4421124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4814316"/>
            <a:ext cx="2734056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产线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03320" y="4814316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1.11135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97880" y="4814316"/>
            <a:ext cx="196596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1.18225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10727" y="4814316"/>
            <a:ext cx="2011680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27.4646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15016" y="4814316"/>
            <a:ext cx="612648" cy="28346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20354B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" y="5431536"/>
            <a:ext cx="1051560" cy="310896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08A8D"/>
                </a:solidFill>
                <a:latin typeface="Noto Sans CJK SC"/>
                <a:ea typeface="Noto Sans CJK SC"/>
              </a:rPr>
              <a:t>来源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847088" y="5385816"/>
            <a:ext cx="9445752" cy="621792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方法稿件 + dataset-summary.json</a:t>
            </a: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65788C"/>
                </a:solidFill>
                <a:latin typeface="Noto Sans CJK SC"/>
                <a:ea typeface="Noto Sans CJK SC"/>
              </a:rPr>
              <a:t>训练：formal-comparison.json；测试：report.json / analysis.md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30352" y="5916168"/>
            <a:ext cx="11109960" cy="393192"/>
          </a:xfrm>
          <a:prstGeom prst="roundRect">
            <a:avLst>
              <a:gd name="adj" fmla="val 12000"/>
            </a:avLst>
          </a:prstGeom>
          <a:solidFill>
            <a:srgbClr val="ED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04088" y="5943600"/>
            <a:ext cx="10744200" cy="3200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08A8D"/>
                </a:solidFill>
                <a:latin typeface="Noto Sans CJK SC"/>
                <a:ea typeface="Noto Sans CJK SC"/>
              </a:rPr>
              <a:t>详细绝对路径与补充口径已放在各页演讲者备注，避免主页面塞满文件名。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ICDS工业合成数据与CAQ-TabICL预测实验</dc:title>
  <dc:subject>研究生组会｜方法组成、8类原型、industrial-v2实验</dc:subject>
  <dc:creator>CAQ-TabICL / ICDS研究项目</dc:creator>
  <cp:keywords>industrial-v2, ICDS, CAQ-TabICL, seed42, meta_test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